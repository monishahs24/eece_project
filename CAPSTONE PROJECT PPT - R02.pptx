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531" r:id="rId2"/>
    <p:sldId id="289" r:id="rId3"/>
    <p:sldId id="539" r:id="rId4"/>
    <p:sldId id="540" r:id="rId5"/>
    <p:sldId id="292" r:id="rId6"/>
    <p:sldId id="294" r:id="rId7"/>
    <p:sldId id="534" r:id="rId8"/>
    <p:sldId id="535" r:id="rId9"/>
    <p:sldId id="532" r:id="rId10"/>
    <p:sldId id="536" r:id="rId11"/>
    <p:sldId id="302" r:id="rId12"/>
    <p:sldId id="303" r:id="rId13"/>
    <p:sldId id="537" r:id="rId14"/>
    <p:sldId id="538" r:id="rId15"/>
    <p:sldId id="307" r:id="rId16"/>
    <p:sldId id="301" r:id="rId17"/>
  </p:sldIdLst>
  <p:sldSz cx="12192000" cy="6858000"/>
  <p:notesSz cx="6858000" cy="9144000"/>
  <p:embeddedFontLst>
    <p:embeddedFont>
      <p:font typeface="Aharoni" panose="02010803020104030203" pitchFamily="2" charset="-79"/>
      <p:bold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Montserrat Medium" panose="00000600000000000000" pitchFamily="2" charset="0"/>
      <p:regular r:id="rId25"/>
      <p: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lus Jakarta Sans" panose="020B060402020202020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custDataLst>
    <p:tags r:id="rId3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87" roundtripDataSignature="AMtx7miIyBGqFJiBIVMPSSJVJ08VgmQ4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d_eceblr gitam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5441"/>
    <a:srgbClr val="EFE2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C4DD4-23D1-4FCC-B57F-7D201F80BE75}" v="74" dt="2025-11-20T17:03:11.801"/>
  </p1510:revLst>
</p1510:revInfo>
</file>

<file path=ppt/tableStyles.xml><?xml version="1.0" encoding="utf-8"?>
<a:tblStyleLst xmlns:a="http://schemas.openxmlformats.org/drawingml/2006/main" def="{DE7AD339-51BE-4A38-A1C7-CCF28897F289}">
  <a:tblStyle styleId="{DE7AD339-51BE-4A38-A1C7-CCF28897F2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A924C56-2605-4F23-9EB3-E9BB6EE8B9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51EE4F-AFDD-4CAF-9A68-E5F7998E488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93928-965C-4434-93D3-DF2355B0796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631A4-29D2-40AD-BCCE-37D0C2C57A83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6335F9-F63F-485A-8836-33AD16E12051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376B42-5B4D-4A95-80B0-B5B1E67FD56F}" styleName="Table_6">
    <a:wholeTbl>
      <a:tcTxStyle b="off" i="off">
        <a:font>
          <a:latin typeface="Arial"/>
          <a:ea typeface="Arial"/>
          <a:cs typeface="Arial"/>
        </a:font>
        <a:srgbClr val="282828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C63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C63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tags" Target="tags/tag1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87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90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sha H S" userId="fc08a0162f969a86" providerId="LiveId" clId="{780404F7-F29D-4D58-A34A-533737CD2DF6}"/>
    <pc:docChg chg="undo custSel modSld">
      <pc:chgData name="Monisha H S" userId="fc08a0162f969a86" providerId="LiveId" clId="{780404F7-F29D-4D58-A34A-533737CD2DF6}" dt="2025-11-21T04:11:01.142" v="29" actId="1076"/>
      <pc:docMkLst>
        <pc:docMk/>
      </pc:docMkLst>
      <pc:sldChg chg="modSp mod">
        <pc:chgData name="Monisha H S" userId="fc08a0162f969a86" providerId="LiveId" clId="{780404F7-F29D-4D58-A34A-533737CD2DF6}" dt="2025-11-20T17:08:27.349" v="2" actId="14734"/>
        <pc:sldMkLst>
          <pc:docMk/>
          <pc:sldMk cId="2538241455" sldId="294"/>
        </pc:sldMkLst>
        <pc:graphicFrameChg chg="modGraphic">
          <ac:chgData name="Monisha H S" userId="fc08a0162f969a86" providerId="LiveId" clId="{780404F7-F29D-4D58-A34A-533737CD2DF6}" dt="2025-11-20T17:08:27.349" v="2" actId="14734"/>
          <ac:graphicFrameMkLst>
            <pc:docMk/>
            <pc:sldMk cId="2538241455" sldId="294"/>
            <ac:graphicFrameMk id="2" creationId="{B33BFFDB-2D4D-F0F9-646A-503E08497144}"/>
          </ac:graphicFrameMkLst>
        </pc:graphicFrameChg>
      </pc:sldChg>
      <pc:sldChg chg="modSp mod">
        <pc:chgData name="Monisha H S" userId="fc08a0162f969a86" providerId="LiveId" clId="{780404F7-F29D-4D58-A34A-533737CD2DF6}" dt="2025-11-20T17:08:48.557" v="4" actId="1076"/>
        <pc:sldMkLst>
          <pc:docMk/>
          <pc:sldMk cId="1229190984" sldId="302"/>
        </pc:sldMkLst>
        <pc:spChg chg="mod">
          <ac:chgData name="Monisha H S" userId="fc08a0162f969a86" providerId="LiveId" clId="{780404F7-F29D-4D58-A34A-533737CD2DF6}" dt="2025-11-20T17:08:48.557" v="4" actId="1076"/>
          <ac:spMkLst>
            <pc:docMk/>
            <pc:sldMk cId="1229190984" sldId="302"/>
            <ac:spMk id="5" creationId="{ECA415C5-05E9-EE8C-B516-CAA160872052}"/>
          </ac:spMkLst>
        </pc:spChg>
      </pc:sldChg>
      <pc:sldChg chg="modSp mod">
        <pc:chgData name="Monisha H S" userId="fc08a0162f969a86" providerId="LiveId" clId="{780404F7-F29D-4D58-A34A-533737CD2DF6}" dt="2025-11-21T04:11:01.142" v="29" actId="1076"/>
        <pc:sldMkLst>
          <pc:docMk/>
          <pc:sldMk cId="2901330264" sldId="531"/>
        </pc:sldMkLst>
        <pc:spChg chg="mod">
          <ac:chgData name="Monisha H S" userId="fc08a0162f969a86" providerId="LiveId" clId="{780404F7-F29D-4D58-A34A-533737CD2DF6}" dt="2025-11-21T04:10:33.911" v="27" actId="20577"/>
          <ac:spMkLst>
            <pc:docMk/>
            <pc:sldMk cId="2901330264" sldId="531"/>
            <ac:spMk id="19" creationId="{037B6323-B919-404C-9A53-E2D1EEBBC29E}"/>
          </ac:spMkLst>
        </pc:spChg>
        <pc:spChg chg="mod">
          <ac:chgData name="Monisha H S" userId="fc08a0162f969a86" providerId="LiveId" clId="{780404F7-F29D-4D58-A34A-533737CD2DF6}" dt="2025-11-21T04:11:01.142" v="29" actId="1076"/>
          <ac:spMkLst>
            <pc:docMk/>
            <pc:sldMk cId="2901330264" sldId="531"/>
            <ac:spMk id="20" creationId="{663FF154-6303-06EF-099B-905F19C206B2}"/>
          </ac:spMkLst>
        </pc:spChg>
        <pc:spChg chg="mod">
          <ac:chgData name="Monisha H S" userId="fc08a0162f969a86" providerId="LiveId" clId="{780404F7-F29D-4D58-A34A-533737CD2DF6}" dt="2025-11-21T04:08:58.054" v="12" actId="20577"/>
          <ac:spMkLst>
            <pc:docMk/>
            <pc:sldMk cId="2901330264" sldId="531"/>
            <ac:spMk id="23" creationId="{D8F66EB9-9CBE-8ACD-E616-93A5AE55CF5C}"/>
          </ac:spMkLst>
        </pc:spChg>
        <pc:picChg chg="mod">
          <ac:chgData name="Monisha H S" userId="fc08a0162f969a86" providerId="LiveId" clId="{780404F7-F29D-4D58-A34A-533737CD2DF6}" dt="2025-11-21T04:10:25.774" v="24" actId="1076"/>
          <ac:picMkLst>
            <pc:docMk/>
            <pc:sldMk cId="2901330264" sldId="531"/>
            <ac:picMk id="5" creationId="{AD01CF2C-8332-E700-171E-F6425D2B2D23}"/>
          </ac:picMkLst>
        </pc:picChg>
      </pc:sldChg>
      <pc:sldChg chg="modSp mod">
        <pc:chgData name="Monisha H S" userId="fc08a0162f969a86" providerId="LiveId" clId="{780404F7-F29D-4D58-A34A-533737CD2DF6}" dt="2025-11-20T17:12:21.788" v="6" actId="1076"/>
        <pc:sldMkLst>
          <pc:docMk/>
          <pc:sldMk cId="120612721" sldId="535"/>
        </pc:sldMkLst>
        <pc:spChg chg="mod">
          <ac:chgData name="Monisha H S" userId="fc08a0162f969a86" providerId="LiveId" clId="{780404F7-F29D-4D58-A34A-533737CD2DF6}" dt="2025-11-20T17:12:21.788" v="6" actId="1076"/>
          <ac:spMkLst>
            <pc:docMk/>
            <pc:sldMk cId="120612721" sldId="535"/>
            <ac:spMk id="6" creationId="{A48D93F6-C4EE-B7E6-5A1A-5EDAAE1F08C5}"/>
          </ac:spMkLst>
        </pc:spChg>
      </pc:sldChg>
      <pc:sldChg chg="modSp mod">
        <pc:chgData name="Monisha H S" userId="fc08a0162f969a86" providerId="LiveId" clId="{780404F7-F29D-4D58-A34A-533737CD2DF6}" dt="2025-11-20T17:08:39.685" v="3" actId="1076"/>
        <pc:sldMkLst>
          <pc:docMk/>
          <pc:sldMk cId="3050125935" sldId="536"/>
        </pc:sldMkLst>
        <pc:spChg chg="mod">
          <ac:chgData name="Monisha H S" userId="fc08a0162f969a86" providerId="LiveId" clId="{780404F7-F29D-4D58-A34A-533737CD2DF6}" dt="2025-11-20T17:08:39.685" v="3" actId="1076"/>
          <ac:spMkLst>
            <pc:docMk/>
            <pc:sldMk cId="3050125935" sldId="536"/>
            <ac:spMk id="2" creationId="{8F8299A7-3FAF-18D0-191D-F7DFE57ECAC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project%20sp02\Gantt%20chart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136947483334494"/>
          <c:y val="0.10276975794692331"/>
          <c:w val="0.72889763779527561"/>
          <c:h val="0.841674686497521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'Gantt chart'!$B$1</c:f>
              <c:strCache>
                <c:ptCount val="1"/>
                <c:pt idx="0">
                  <c:v>Start Date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'Gantt chart'!$A$2:$A$8</c:f>
              <c:strCache>
                <c:ptCount val="6"/>
                <c:pt idx="0">
                  <c:v>Project Planning</c:v>
                </c:pt>
                <c:pt idx="1">
                  <c:v>Requirement Analysis</c:v>
                </c:pt>
                <c:pt idx="2">
                  <c:v>System Design &amp; Block Diagram</c:v>
                </c:pt>
                <c:pt idx="3">
                  <c:v>Embedded System Setup</c:v>
                </c:pt>
                <c:pt idx="4">
                  <c:v>IOT Hardware Implementation</c:v>
                </c:pt>
                <c:pt idx="5">
                  <c:v>Testing, Debugging, Documentation &amp; Report</c:v>
                </c:pt>
              </c:strCache>
            </c:strRef>
          </c:cat>
          <c:val>
            <c:numRef>
              <c:f>'Gantt chart'!$B$2:$B$8</c:f>
              <c:numCache>
                <c:formatCode>d\-mmm</c:formatCode>
                <c:ptCount val="7"/>
                <c:pt idx="0">
                  <c:v>45890</c:v>
                </c:pt>
                <c:pt idx="1">
                  <c:v>45901</c:v>
                </c:pt>
                <c:pt idx="2">
                  <c:v>45926</c:v>
                </c:pt>
                <c:pt idx="3">
                  <c:v>45951</c:v>
                </c:pt>
                <c:pt idx="4">
                  <c:v>45977</c:v>
                </c:pt>
                <c:pt idx="5">
                  <c:v>46002</c:v>
                </c:pt>
                <c:pt idx="6">
                  <c:v>46033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DF-42EC-AE66-EE06B106DCD9}"/>
            </c:ext>
          </c:extLst>
        </c:ser>
        <c:ser>
          <c:idx val="1"/>
          <c:order val="1"/>
          <c:tx>
            <c:strRef>
              <c:f>'Gantt chart'!$D$1:$E$1</c:f>
              <c:strCache>
                <c:ptCount val="1"/>
                <c:pt idx="0">
                  <c:v>Duration (days)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'Gantt chart'!$A$2:$A$8</c:f>
              <c:strCache>
                <c:ptCount val="6"/>
                <c:pt idx="0">
                  <c:v>Project Planning</c:v>
                </c:pt>
                <c:pt idx="1">
                  <c:v>Requirement Analysis</c:v>
                </c:pt>
                <c:pt idx="2">
                  <c:v>System Design &amp; Block Diagram</c:v>
                </c:pt>
                <c:pt idx="3">
                  <c:v>Embedded System Setup</c:v>
                </c:pt>
                <c:pt idx="4">
                  <c:v>IOT Hardware Implementation</c:v>
                </c:pt>
                <c:pt idx="5">
                  <c:v>Testing, Debugging, Documentation &amp; Report</c:v>
                </c:pt>
              </c:strCache>
            </c:strRef>
          </c:cat>
          <c:val>
            <c:numRef>
              <c:f>'Gantt chart'!$D$2:$D$8</c:f>
              <c:numCache>
                <c:formatCode>General</c:formatCode>
                <c:ptCount val="7"/>
                <c:pt idx="0">
                  <c:v>10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30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DF-42EC-AE66-EE06B106DC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80001568"/>
        <c:axId val="1679988128"/>
      </c:barChart>
      <c:catAx>
        <c:axId val="16800015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9988128"/>
        <c:crosses val="autoZero"/>
        <c:auto val="1"/>
        <c:lblAlgn val="ctr"/>
        <c:lblOffset val="100"/>
        <c:noMultiLvlLbl val="0"/>
      </c:catAx>
      <c:valAx>
        <c:axId val="1679988128"/>
        <c:scaling>
          <c:orientation val="minMax"/>
          <c:max val="46033"/>
          <c:min val="4589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d\-mmm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001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55F02E-3C08-AE1E-8586-E8E7CD0990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25FAD-57C3-48A0-8DDC-E6630F162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4F2F-8EAD-49A7-A8EF-9A8E9DCC375B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5DB5B-4D1B-4F17-4428-BC3F459421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874CE-76D5-C303-BA82-2A7E796E0B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54583-99CA-4BB1-8621-21CE87B92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33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DA2E6-7F22-4241-BC20-FFB75025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D982CAA8-A962-C840-8D2B-A34EF3919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9C1CB7E4-6815-AC32-2B8D-06EDAD16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5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44F03CF3-038F-383F-DE73-ED7E23EF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2820642B-F41B-A259-3B57-70B900F63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75CF8501-5763-35DF-A5FA-EC072CA41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96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CDE2699E-D93E-1061-8E65-9524700F6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51CB7C92-8DF5-7E4D-52B8-99E953C8D6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758D84ED-3B01-12B1-2E9F-DB2027252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45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9E058B08-58E6-9F0F-DF87-5DED49A0D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53096C82-8867-D00C-A568-BCD7CB58D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BAA3ED4A-F4DD-BC77-8BF5-0B54F9756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7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ee63df2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g2fee63df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Google Shape;14;p38">
            <a:extLst>
              <a:ext uri="{FF2B5EF4-FFF2-40B4-BE49-F238E27FC236}">
                <a16:creationId xmlns:a16="http://schemas.microsoft.com/office/drawing/2014/main" id="{F1297DBC-90BB-B4E6-5D35-1E9745CE1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79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373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0C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Dept EECE, GST Bengaluru</a:t>
            </a:r>
            <a:endParaRPr sz="1800" b="0" i="0" u="none" strike="noStrike" cap="non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Google Shape;11;p64"/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545066" y="6107763"/>
            <a:ext cx="1432859" cy="61408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7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521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pos="4294">
          <p15:clr>
            <a:srgbClr val="A4A3A4"/>
          </p15:clr>
        </p15:guide>
        <p15:guide id="12" pos="4747">
          <p15:clr>
            <a:srgbClr val="A4A3A4"/>
          </p15:clr>
        </p15:guide>
        <p15:guide id="13" pos="211">
          <p15:clr>
            <a:srgbClr val="A4A3A4"/>
          </p15:clr>
        </p15:guide>
        <p15:guide id="14" pos="665">
          <p15:clr>
            <a:srgbClr val="A4A3A4"/>
          </p15:clr>
        </p15:guide>
        <p15:guide id="15" pos="1118">
          <p15:clr>
            <a:srgbClr val="A4A3A4"/>
          </p15:clr>
        </p15:guide>
        <p15:guide id="16" pos="1572">
          <p15:clr>
            <a:srgbClr val="A4A3A4"/>
          </p15:clr>
        </p15:guide>
        <p15:guide id="17" pos="2026">
          <p15:clr>
            <a:srgbClr val="A4A3A4"/>
          </p15:clr>
        </p15:guide>
        <p15:guide id="18" pos="2479">
          <p15:clr>
            <a:srgbClr val="A4A3A4"/>
          </p15:clr>
        </p15:guide>
        <p15:guide id="19" pos="2933">
          <p15:clr>
            <a:srgbClr val="A4A3A4"/>
          </p15:clr>
        </p15:guide>
        <p15:guide id="20" pos="3386">
          <p15:clr>
            <a:srgbClr val="A4A3A4"/>
          </p15:clr>
        </p15:guide>
        <p15:guide id="21" pos="5201">
          <p15:clr>
            <a:srgbClr val="A4A3A4"/>
          </p15:clr>
        </p15:guide>
        <p15:guide id="22" pos="5654">
          <p15:clr>
            <a:srgbClr val="A4A3A4"/>
          </p15:clr>
        </p15:guide>
        <p15:guide id="23" pos="6108">
          <p15:clr>
            <a:srgbClr val="A4A3A4"/>
          </p15:clr>
        </p15:guide>
        <p15:guide id="24" pos="6562">
          <p15:clr>
            <a:srgbClr val="A4A3A4"/>
          </p15:clr>
        </p15:guide>
        <p15:guide id="25" pos="7015">
          <p15:clr>
            <a:srgbClr val="A4A3A4"/>
          </p15:clr>
        </p15:guide>
        <p15:guide id="26" pos="7469">
          <p15:clr>
            <a:srgbClr val="A4A3A4"/>
          </p15:clr>
        </p15:guide>
        <p15:guide id="27" pos="347">
          <p15:clr>
            <a:srgbClr val="F26B43"/>
          </p15:clr>
        </p15:guide>
        <p15:guide id="28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9EPAHgzEENCpdxI0xaH-OrKRQXIPM2Ed/view?usp=drive_link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E9A7-FBD8-C9FF-7958-4AF1125225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5" name="Google Shape;87;p1">
            <a:extLst>
              <a:ext uri="{FF2B5EF4-FFF2-40B4-BE49-F238E27FC236}">
                <a16:creationId xmlns:a16="http://schemas.microsoft.com/office/drawing/2014/main" id="{AD01CF2C-8332-E700-171E-F6425D2B2D23}"/>
              </a:ext>
            </a:extLst>
          </p:cNvPr>
          <p:cNvPicPr preferRelativeResize="0"/>
          <p:nvPr/>
        </p:nvPicPr>
        <p:blipFill rotWithShape="1">
          <a:blip r:embed="rId2">
            <a:alphaModFix amt="20000"/>
          </a:blip>
          <a:srcRect l="1514" r="2310" b="19493"/>
          <a:stretch/>
        </p:blipFill>
        <p:spPr>
          <a:xfrm>
            <a:off x="-1235" y="7409"/>
            <a:ext cx="12193235" cy="67349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8;p1">
            <a:extLst>
              <a:ext uri="{FF2B5EF4-FFF2-40B4-BE49-F238E27FC236}">
                <a16:creationId xmlns:a16="http://schemas.microsoft.com/office/drawing/2014/main" id="{74F321D0-F3BA-5572-DBB4-C5E77739C8E5}"/>
              </a:ext>
            </a:extLst>
          </p:cNvPr>
          <p:cNvSpPr txBox="1"/>
          <p:nvPr/>
        </p:nvSpPr>
        <p:spPr>
          <a:xfrm>
            <a:off x="2904067" y="3157752"/>
            <a:ext cx="638386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GITAM (Deemed-to-be) University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5F318AA7-C96A-3AAD-7C94-E53133C5AD6C}"/>
              </a:ext>
            </a:extLst>
          </p:cNvPr>
          <p:cNvSpPr/>
          <p:nvPr/>
        </p:nvSpPr>
        <p:spPr>
          <a:xfrm>
            <a:off x="3060700" y="6148918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www.gitam.edu</a:t>
            </a:r>
            <a:endParaRPr sz="1200" b="0" i="0" u="none" strike="noStrike" cap="none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" name="Google Shape;94;p1">
            <a:extLst>
              <a:ext uri="{FF2B5EF4-FFF2-40B4-BE49-F238E27FC236}">
                <a16:creationId xmlns:a16="http://schemas.microsoft.com/office/drawing/2014/main" id="{27E17DC4-EBA4-36D1-CC55-FFAF1FD93FF1}"/>
              </a:ext>
            </a:extLst>
          </p:cNvPr>
          <p:cNvGrpSpPr/>
          <p:nvPr/>
        </p:nvGrpSpPr>
        <p:grpSpPr>
          <a:xfrm rot="2700000">
            <a:off x="5984712" y="5183993"/>
            <a:ext cx="231043" cy="225933"/>
            <a:chOff x="11087593" y="13905"/>
            <a:chExt cx="1085533" cy="1061509"/>
          </a:xfrm>
        </p:grpSpPr>
        <p:sp>
          <p:nvSpPr>
            <p:cNvPr id="13" name="Google Shape;95;p1">
              <a:extLst>
                <a:ext uri="{FF2B5EF4-FFF2-40B4-BE49-F238E27FC236}">
                  <a16:creationId xmlns:a16="http://schemas.microsoft.com/office/drawing/2014/main" id="{AE7092A2-B102-1273-6C25-E1736799EF72}"/>
                </a:ext>
              </a:extLst>
            </p:cNvPr>
            <p:cNvSpPr/>
            <p:nvPr/>
          </p:nvSpPr>
          <p:spPr>
            <a:xfrm>
              <a:off x="11087593" y="548342"/>
              <a:ext cx="537028" cy="527072"/>
            </a:xfrm>
            <a:prstGeom prst="rect">
              <a:avLst/>
            </a:prstGeom>
            <a:solidFill>
              <a:srgbClr val="DF2A3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6;p1">
              <a:extLst>
                <a:ext uri="{FF2B5EF4-FFF2-40B4-BE49-F238E27FC236}">
                  <a16:creationId xmlns:a16="http://schemas.microsoft.com/office/drawing/2014/main" id="{CD50D2DC-2455-5951-3C5D-BB02F217709E}"/>
                </a:ext>
              </a:extLst>
            </p:cNvPr>
            <p:cNvSpPr/>
            <p:nvPr/>
          </p:nvSpPr>
          <p:spPr>
            <a:xfrm>
              <a:off x="11636098" y="13905"/>
              <a:ext cx="537028" cy="527079"/>
            </a:xfrm>
            <a:prstGeom prst="rect">
              <a:avLst/>
            </a:prstGeom>
            <a:solidFill>
              <a:srgbClr val="3A3A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104;p1">
            <a:extLst>
              <a:ext uri="{FF2B5EF4-FFF2-40B4-BE49-F238E27FC236}">
                <a16:creationId xmlns:a16="http://schemas.microsoft.com/office/drawing/2014/main" id="{C323D64D-BE3D-E115-33E9-192C329B4C2B}"/>
              </a:ext>
            </a:extLst>
          </p:cNvPr>
          <p:cNvSpPr/>
          <p:nvPr/>
        </p:nvSpPr>
        <p:spPr>
          <a:xfrm>
            <a:off x="2904067" y="3856219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Department of Electrical Electronics and Communication Engineering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5;p1">
            <a:extLst>
              <a:ext uri="{FF2B5EF4-FFF2-40B4-BE49-F238E27FC236}">
                <a16:creationId xmlns:a16="http://schemas.microsoft.com/office/drawing/2014/main" id="{C9CF77E4-28A7-270F-8F1A-AFD4E8DCECCF}"/>
              </a:ext>
            </a:extLst>
          </p:cNvPr>
          <p:cNvSpPr/>
          <p:nvPr/>
        </p:nvSpPr>
        <p:spPr>
          <a:xfrm>
            <a:off x="9156700" y="5791918"/>
            <a:ext cx="29269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1;p1">
            <a:extLst>
              <a:ext uri="{FF2B5EF4-FFF2-40B4-BE49-F238E27FC236}">
                <a16:creationId xmlns:a16="http://schemas.microsoft.com/office/drawing/2014/main" id="{037B6323-B919-404C-9A53-E2D1EEBBC29E}"/>
              </a:ext>
            </a:extLst>
          </p:cNvPr>
          <p:cNvSpPr/>
          <p:nvPr/>
        </p:nvSpPr>
        <p:spPr>
          <a:xfrm>
            <a:off x="133753" y="4504626"/>
            <a:ext cx="3723543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Team: 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Monisha H S – BU22EECE0100439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Praj</a:t>
            </a: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wal Shetty – BU22EECE0100434</a:t>
            </a:r>
          </a:p>
        </p:txBody>
      </p:sp>
      <p:sp>
        <p:nvSpPr>
          <p:cNvPr id="20" name="Google Shape;111;p1">
            <a:extLst>
              <a:ext uri="{FF2B5EF4-FFF2-40B4-BE49-F238E27FC236}">
                <a16:creationId xmlns:a16="http://schemas.microsoft.com/office/drawing/2014/main" id="{663FF154-6303-06EF-099B-905F19C206B2}"/>
              </a:ext>
            </a:extLst>
          </p:cNvPr>
          <p:cNvSpPr/>
          <p:nvPr/>
        </p:nvSpPr>
        <p:spPr>
          <a:xfrm>
            <a:off x="8062452" y="4846515"/>
            <a:ext cx="4264536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Mentor: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Mr. Kshitij Shakya 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In-charge: </a:t>
            </a: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Mr. Jaya Praksh Sahoo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67;p1">
            <a:extLst>
              <a:ext uri="{FF2B5EF4-FFF2-40B4-BE49-F238E27FC236}">
                <a16:creationId xmlns:a16="http://schemas.microsoft.com/office/drawing/2014/main" id="{14559E83-6276-698C-A2DC-9D1D6C0E44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1352" y="1778687"/>
            <a:ext cx="2674631" cy="1245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8CF9D16E-FF17-2A50-8767-3A06BCEC2AD9}"/>
              </a:ext>
            </a:extLst>
          </p:cNvPr>
          <p:cNvSpPr txBox="1"/>
          <p:nvPr/>
        </p:nvSpPr>
        <p:spPr>
          <a:xfrm>
            <a:off x="243084" y="377391"/>
            <a:ext cx="1068419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chemeClr val="accent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Ear-Wearable SpO₂ and Heart-Rate Monitoring Device for Low-Ventilation Area Workers</a:t>
            </a:r>
          </a:p>
        </p:txBody>
      </p:sp>
      <p:sp>
        <p:nvSpPr>
          <p:cNvPr id="23" name="Google Shape;88;p1">
            <a:extLst>
              <a:ext uri="{FF2B5EF4-FFF2-40B4-BE49-F238E27FC236}">
                <a16:creationId xmlns:a16="http://schemas.microsoft.com/office/drawing/2014/main" id="{D8F66EB9-9CBE-8ACD-E616-93A5AE55CF5C}"/>
              </a:ext>
            </a:extLst>
          </p:cNvPr>
          <p:cNvSpPr txBox="1"/>
          <p:nvPr/>
        </p:nvSpPr>
        <p:spPr>
          <a:xfrm>
            <a:off x="10636525" y="48845"/>
            <a:ext cx="164727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Review-2</a:t>
            </a:r>
            <a:endParaRPr lang="en-US" sz="2000" i="1" dirty="0"/>
          </a:p>
        </p:txBody>
      </p:sp>
      <p:sp>
        <p:nvSpPr>
          <p:cNvPr id="25" name="Google Shape;120;p76">
            <a:extLst>
              <a:ext uri="{FF2B5EF4-FFF2-40B4-BE49-F238E27FC236}">
                <a16:creationId xmlns:a16="http://schemas.microsoft.com/office/drawing/2014/main" id="{38A183C7-510B-0906-FECD-64BA2B628A0E}"/>
              </a:ext>
            </a:extLst>
          </p:cNvPr>
          <p:cNvSpPr/>
          <p:nvPr/>
        </p:nvSpPr>
        <p:spPr>
          <a:xfrm>
            <a:off x="133753" y="2965411"/>
            <a:ext cx="2432050" cy="818907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AY 2025-26 </a:t>
            </a: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0;p76">
            <a:extLst>
              <a:ext uri="{FF2B5EF4-FFF2-40B4-BE49-F238E27FC236}">
                <a16:creationId xmlns:a16="http://schemas.microsoft.com/office/drawing/2014/main" id="{B3C9655A-2680-CBD4-341A-460C55A63157}"/>
              </a:ext>
            </a:extLst>
          </p:cNvPr>
          <p:cNvSpPr/>
          <p:nvPr/>
        </p:nvSpPr>
        <p:spPr>
          <a:xfrm>
            <a:off x="9287933" y="2965412"/>
            <a:ext cx="2770314" cy="818907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Capstone Project – </a:t>
            </a:r>
            <a:r>
              <a:rPr lang="en-US" sz="18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 (PROJ2999)</a:t>
            </a:r>
            <a:endParaRPr lang="en-US" sz="18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013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16D5E0D-E878-63B4-A1A9-208E58ED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1EF97A4B-E82E-712F-CA13-78D59E17A26B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Objective and Goals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11477-E886-23E8-64BD-4CADAD76379A}"/>
              </a:ext>
            </a:extLst>
          </p:cNvPr>
          <p:cNvSpPr txBox="1"/>
          <p:nvPr/>
        </p:nvSpPr>
        <p:spPr>
          <a:xfrm>
            <a:off x="1000123" y="1298200"/>
            <a:ext cx="11191876" cy="2099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project aims to develop a setup that simulates blood-flow patterns using a controlled water-flow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purpose of this system is to support the testing and evaluation of heart-rate and SpO₂ sensors in a safe and repeatable manner.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Instead of using AI/ML algorithms, the system now focuses on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hardware-based implementation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using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Arduino IDE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where sensors and actuators are directly controlled and monitored.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water-flow mechanism helps mimic the behavior of real blood flow, allowing us to analyze how sensors respond to different flow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goal is to create a simple, reliable, and practical testing platform that helps in future development of ear-wearable health-monitoring devices, especially for detecting low-oxygen conditions in workers from low-ventilation environments.</a:t>
            </a:r>
          </a:p>
          <a:p>
            <a:pPr>
              <a:lnSpc>
                <a:spcPct val="150000"/>
              </a:lnSpc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9AEFFB-1A20-899A-F8E0-29DEDB267EF4}"/>
              </a:ext>
            </a:extLst>
          </p:cNvPr>
          <p:cNvSpPr txBox="1"/>
          <p:nvPr/>
        </p:nvSpPr>
        <p:spPr>
          <a:xfrm>
            <a:off x="1000123" y="3900863"/>
            <a:ext cx="994317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MAIN GOALS: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 a hardware setup using Arduino to simulate blood-flow patterns through controlled water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water-flow and float sensors to study the behavior and response of heart-rate/SpO₂ sensor testing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Achieve stable and continuous flow for accurate simulation and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Ensure the system is simple, reliable, and suitable for validating future ear-wearable sensor designs.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ADDITIONAL GOALS: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Add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NodeMCU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wireless monitoring (optional future upgrade).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Improve system efficiency and power usage using lithium-ion battery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Enable continuous data observation for deciding low-oxygen conditions and the need for an ear-wearable SpO₂ sensor.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B294828-0F9E-F06A-05D5-7A5C37AB3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2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16E2BB-62E6-DF69-3559-BD72DF2FE0AE}"/>
              </a:ext>
            </a:extLst>
          </p:cNvPr>
          <p:cNvSpPr txBox="1"/>
          <p:nvPr/>
        </p:nvSpPr>
        <p:spPr>
          <a:xfrm>
            <a:off x="1273214" y="827500"/>
            <a:ext cx="24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69642-49B9-8B0F-DD25-8726406366DA}"/>
              </a:ext>
            </a:extLst>
          </p:cNvPr>
          <p:cNvSpPr txBox="1"/>
          <p:nvPr/>
        </p:nvSpPr>
        <p:spPr>
          <a:xfrm>
            <a:off x="1273214" y="3460700"/>
            <a:ext cx="24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14296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5492C63E-1F58-2BC7-0763-80E62572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5240CF10-B6D7-2886-EDC7-FD040D063C0E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to SpO₂ Monitoring for Workers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869661D7-B5A8-DB28-F7B9-5391F38875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3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8EE6D-97A9-77F1-3422-B52ECF3392F4}"/>
              </a:ext>
            </a:extLst>
          </p:cNvPr>
          <p:cNvSpPr txBox="1"/>
          <p:nvPr/>
        </p:nvSpPr>
        <p:spPr>
          <a:xfrm>
            <a:off x="1091029" y="714126"/>
            <a:ext cx="1066815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project develops an ear-wearable SpO₂ monitoring device for workers in low-ventilation areas. It provides continuous, hands-free oxygen level tracking to prevent dizziness, fatigue, and accidents. The system ensures better safety by giving real-time alerts when oxygen levels drop.</a:t>
            </a:r>
          </a:p>
          <a:p>
            <a:pPr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What is SpO₂?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SpO₂ means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Oxygen Level in Blood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SpO₂ (Saturation Peripheral Oxygen)- Peripheral Capillary Oxygen Saturation.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tells how much oxygen your body is getting.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Normal range: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95% to 100%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If SpO₂ becomes low → the person starts feeling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weak, dizzy, tired, fatigue, loss of consciousness.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Why Workers Need It?</a:t>
            </a:r>
          </a:p>
          <a:p>
            <a:pPr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Workers in places like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mines, tunnels, factories, and low-ventilation rooms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face low oxygen because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Poor air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Closed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Harmful gases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Dust and heat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Problem With Current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Normal finger oximeters need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hand to be free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Workers cannot wear them during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They don’t give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continuous monitoring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They are not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comfortable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Not useful while moving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22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419F056-D321-7DA1-E35F-7513E2CE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A715FDA3-DA30-5DFE-755A-62E4120BDF91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Ear-Wearable SpO₂ Monitoring System – Project Overview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D50E878-8CBC-F5C5-F452-5FA06143CB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4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CD14C-013D-6C71-9663-43BEA37CA204}"/>
              </a:ext>
            </a:extLst>
          </p:cNvPr>
          <p:cNvSpPr txBox="1"/>
          <p:nvPr/>
        </p:nvSpPr>
        <p:spPr>
          <a:xfrm>
            <a:off x="1000124" y="1066986"/>
            <a:ext cx="1066815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Why Ear?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Ear has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less movement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→ more accurate reading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Ear skin is thin → better light passing for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Comfortable for workers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Worker can wear it for long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Hands stay free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Components Used (Hardware)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SpO₂ Sensor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uses red &amp; infrared light to measure oxygen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Microcontroller (ESP/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Nodemcu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processes the sensor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Bluetooth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sends data to phone or monitoring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Accelerometer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reduces errors due to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Battery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powers the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Buzzer/Vibration Motor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gives warning alert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Expected Output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Working prototype placed at the 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Continuous real-time SpO₂ and heart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Alerts when oxygen is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Useful for workers in low ventilation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Can be extended in future with body temperature, ECG, fatigue tracking, etc.</a:t>
            </a:r>
          </a:p>
          <a:p>
            <a:pPr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283132-7BC9-8F19-3A36-DE561491000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43018" y="1289151"/>
            <a:ext cx="3099086" cy="31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34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5D277163-DDF4-8A7D-727E-9DC95265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C6ECFB60-4922-9557-3C5E-7FA842E8B16A}"/>
              </a:ext>
            </a:extLst>
          </p:cNvPr>
          <p:cNvSpPr txBox="1"/>
          <p:nvPr/>
        </p:nvSpPr>
        <p:spPr>
          <a:xfrm>
            <a:off x="-134885" y="634271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41AC6-CE23-A38B-BD86-17E34844F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5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2977A3E-566F-814B-0D9C-37C0E1141171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Project Plan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A0981B2-2819-29B2-1A78-591BA9ADAA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9537373"/>
              </p:ext>
            </p:extLst>
          </p:nvPr>
        </p:nvGraphicFramePr>
        <p:xfrm>
          <a:off x="1170432" y="1325880"/>
          <a:ext cx="9701784" cy="4352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31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B61C2-B595-6D36-CB78-3791DED7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50F573B-21F3-B526-5212-5E481ED19CDC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sym typeface="Montserrat"/>
              </a:rPr>
              <a:t>Literature Survey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89FAE14-3F2D-9B3A-FA7E-862D36BC1477}"/>
              </a:ext>
            </a:extLst>
          </p:cNvPr>
          <p:cNvSpPr txBox="1"/>
          <p:nvPr/>
        </p:nvSpPr>
        <p:spPr>
          <a:xfrm>
            <a:off x="1085957" y="723059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Key Publications (IEEE &amp; Scholarly Papers)</a:t>
            </a:r>
          </a:p>
          <a:p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3BFFDB-2D4D-F0F9-646A-503E0849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944320"/>
              </p:ext>
            </p:extLst>
          </p:nvPr>
        </p:nvGraphicFramePr>
        <p:xfrm>
          <a:off x="1085957" y="1359774"/>
          <a:ext cx="10569252" cy="441340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642313">
                  <a:extLst>
                    <a:ext uri="{9D8B030D-6E8A-4147-A177-3AD203B41FA5}">
                      <a16:colId xmlns:a16="http://schemas.microsoft.com/office/drawing/2014/main" val="787639325"/>
                    </a:ext>
                  </a:extLst>
                </a:gridCol>
                <a:gridCol w="2642313">
                  <a:extLst>
                    <a:ext uri="{9D8B030D-6E8A-4147-A177-3AD203B41FA5}">
                      <a16:colId xmlns:a16="http://schemas.microsoft.com/office/drawing/2014/main" val="3027528088"/>
                    </a:ext>
                  </a:extLst>
                </a:gridCol>
                <a:gridCol w="2642313">
                  <a:extLst>
                    <a:ext uri="{9D8B030D-6E8A-4147-A177-3AD203B41FA5}">
                      <a16:colId xmlns:a16="http://schemas.microsoft.com/office/drawing/2014/main" val="4079830968"/>
                    </a:ext>
                  </a:extLst>
                </a:gridCol>
                <a:gridCol w="2642313">
                  <a:extLst>
                    <a:ext uri="{9D8B030D-6E8A-4147-A177-3AD203B41FA5}">
                      <a16:colId xmlns:a16="http://schemas.microsoft.com/office/drawing/2014/main" val="2746610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Title</a:t>
                      </a:r>
                      <a:endParaRPr lang="en-US" sz="16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Authors</a:t>
                      </a:r>
                      <a:endParaRPr lang="en-US" sz="16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Advantages / Why Useful</a:t>
                      </a:r>
                      <a:endParaRPr lang="en-US" sz="16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Key Takeaways</a:t>
                      </a:r>
                      <a:endParaRPr lang="en-US" sz="16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687180"/>
                  </a:ext>
                </a:extLst>
              </a:tr>
              <a:tr h="717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Wearable Photoplethysmography for Cardiovascular Monitoring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P. H. Charlton, P. A. </a:t>
                      </a:r>
                      <a:r>
                        <a:rPr lang="fr-FR" sz="1200" dirty="0" err="1"/>
                        <a:t>Kyriacou</a:t>
                      </a:r>
                      <a:r>
                        <a:rPr lang="fr-FR" sz="1200" dirty="0"/>
                        <a:t>, et al.</a:t>
                      </a:r>
                      <a:endParaRPr lang="fr-FR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 comprehensive survey in IEEE on how PPG is used in wearables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Explains sensor design, signal processing challenges, motion artefact handling, and future research directions for wearable PPG systems 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804856"/>
                  </a:ext>
                </a:extLst>
              </a:tr>
              <a:tr h="526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Photoplethysmography in Wearable Devices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dirty="0"/>
                        <a:t>K. B. Kim et al.</a:t>
                      </a:r>
                      <a:endParaRPr lang="da-DK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Good coverage of fundamentals and trends of PPG in wearables</a:t>
                      </a:r>
                      <a:endParaRPr lang="en-US" sz="12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Describes how PPG works, challenges in wearable context (motion, ambient light), multi-wavelength setups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383792"/>
                  </a:ext>
                </a:extLst>
              </a:tr>
              <a:tr h="717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In-Ear SpO₂: A Tool for Wearable, Unobtrusive Monitoring of Core Blood Oxygen Saturation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H. J. Davies, I. Williams, N. Peters, D. Mandic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Shows feasibility of ear canal SpO₂ measurement compared to finger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Found RMS error ~1.47%, mean offset ~0.23%, and ~12.4 s faster detection in ear vs finger; also discusses lower amplitude in ear signals 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517349"/>
                  </a:ext>
                </a:extLst>
              </a:tr>
              <a:tr h="686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Development of a Wearable Reflection-Type Pulse Oximeter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/>
                        <a:t>P. P. Banik et al.</a:t>
                      </a:r>
                      <a:endParaRPr lang="da-DK" sz="12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Demonstrates motion-aware SpO₂ and HR measurement in a wearable device</a:t>
                      </a:r>
                      <a:endParaRPr lang="en-US" sz="12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Reports performance under motion: 4.5% MAPE, 3.66 bpm MAE in motion, and ~98.96% SpO₂ accuracy without motion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3536741"/>
                  </a:ext>
                </a:extLst>
              </a:tr>
              <a:tr h="686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Reduction of Motion Artifacts from PPG Signals using Learned Convolutional Sparse Coding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Giulio Basso, Xi Long, Reinder </a:t>
                      </a:r>
                      <a:r>
                        <a:rPr lang="en-US" sz="1200" dirty="0" err="1"/>
                        <a:t>Haakma</a:t>
                      </a:r>
                      <a:r>
                        <a:rPr lang="en-US" sz="1200" dirty="0"/>
                        <a:t>, Rik </a:t>
                      </a:r>
                      <a:r>
                        <a:rPr lang="en-US" sz="1200" dirty="0" err="1"/>
                        <a:t>Vullings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 novel method for PPG denoising using a blend of sparse coding + learning</a:t>
                      </a:r>
                      <a:endParaRPr lang="en-US" sz="120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Demonstrates improved SNR and lower error in heart-rate estimation under motion compared to conventional methods </a:t>
                      </a: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54849" marR="54849" marT="27424" marB="274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132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241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49B9-5A14-8F72-C950-E5BEC224D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DA1BC7-9A11-DD35-C2ED-4899DA71CB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B30B047-F7FE-36E2-4329-119EF0FF87A9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sym typeface="Montserrat"/>
              </a:rPr>
              <a:t>Literature Survey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2C52AC03-8EB7-4304-237F-D83EE987A49B}"/>
              </a:ext>
            </a:extLst>
          </p:cNvPr>
          <p:cNvSpPr txBox="1"/>
          <p:nvPr/>
        </p:nvSpPr>
        <p:spPr>
          <a:xfrm>
            <a:off x="1000124" y="939676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Key Resources (Datasheets / Whitepapers / Application Notes</a:t>
            </a:r>
            <a:r>
              <a:rPr 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b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8E9A87-E80A-8E19-BA80-5A754FD9A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067970"/>
              </p:ext>
            </p:extLst>
          </p:nvPr>
        </p:nvGraphicFramePr>
        <p:xfrm>
          <a:off x="1000124" y="1463040"/>
          <a:ext cx="10515600" cy="3962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682011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98463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80398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Resource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What It Provides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How It Helps You</a:t>
                      </a:r>
                      <a:endParaRPr lang="en-US" sz="16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221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Arduino UNO Datasheet / Documentation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Pin configuration, voltage limits, I/O behavior, library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Helps you correctly interface float sensor, relay module, and water-flow 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59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Relay Module Datasheet (5V)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Operating voltage, trigger level, load ratings, wiring guidelines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Ensures safe switching of the water pump without damaging the Arduino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45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Float Sensor Datasheet / Reference Guide</a:t>
                      </a:r>
                      <a:endParaRPr lang="en-US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Working principle, switching logic (NO/NC), water-level detection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Helps detect tank empty/full conditions and control pump operation accurately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826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Water-Flow Sensor (YF-S201 or Similar) Datasheet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Flow rate measurement formula, pulse output details, calibration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Allows accurate reading of water-flow patterns to mimic blood-flow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89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DC Water Pump Specifications (6V Pump)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Flow rate, pressure rating, power consumption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Helps decide pump suitability, flow stability, and system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556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Battery (Li-ion 3.7V / 18650) Documentation</a:t>
                      </a:r>
                      <a:endParaRPr lang="it-IT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Discharge characteristics, safe usage, protection guidelines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Ensures safe powering of the system and prevents voltage-drop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391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Arduino Libraries &amp; Sample Codes</a:t>
                      </a:r>
                      <a:endParaRPr lang="en-US" sz="140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Pre-developed code for sensors, interrupts, timing functions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Reduces development time and ensures reliable code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804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264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8D93F6-C4EE-B7E6-5A1A-5EDAAE1F08C5}"/>
              </a:ext>
            </a:extLst>
          </p:cNvPr>
          <p:cNvSpPr txBox="1"/>
          <p:nvPr/>
        </p:nvSpPr>
        <p:spPr>
          <a:xfrm>
            <a:off x="2677218" y="249366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sym typeface="Montserrat"/>
              </a:rPr>
              <a:t>Literature Survey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CAD8F-25A0-99F6-8D1D-8A27C3D48820}"/>
              </a:ext>
            </a:extLst>
          </p:cNvPr>
          <p:cNvSpPr txBox="1"/>
          <p:nvPr/>
        </p:nvSpPr>
        <p:spPr>
          <a:xfrm>
            <a:off x="1094695" y="601303"/>
            <a:ext cx="6094268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Existing Implementations</a:t>
            </a:r>
          </a:p>
          <a:p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PRODUCTS:</a:t>
            </a:r>
          </a:p>
          <a:p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OxiWear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FDA-approved ear-worn pulse oximeter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Masimo </a:t>
            </a:r>
            <a:r>
              <a:rPr lang="en-US" alt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MightySat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/ Temple-worn sensors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Smart Earbud with built-in SpO₂ monitoring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Headband/Temple-mounted SpO₂ monitors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Open-Source / GitHub Projects</a:t>
            </a:r>
          </a:p>
          <a:p>
            <a:pPr>
              <a:buNone/>
            </a:pPr>
            <a:endParaRPr lang="en-US" sz="15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Arduino MAX3010x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DIY ear-clip PPG sensor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Earbud pulse oximeter prototype (MAX30102 + Arduino)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Wearable PPG toolkit for signal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BLE-enabled ear-lobe SpO₂ sensor (student project)</a:t>
            </a:r>
          </a:p>
        </p:txBody>
      </p:sp>
    </p:spTree>
    <p:extLst>
      <p:ext uri="{BB962C8B-B14F-4D97-AF65-F5344CB8AC3E}">
        <p14:creationId xmlns:p14="http://schemas.microsoft.com/office/powerpoint/2010/main" val="120612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5D3A-9A48-EF9A-EB65-EB10498F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7AF62C-2799-3920-609C-4BB1158D8D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4B16CBD0-DE63-9577-B3D8-89D754C838DF}"/>
              </a:ext>
            </a:extLst>
          </p:cNvPr>
          <p:cNvSpPr txBox="1"/>
          <p:nvPr/>
        </p:nvSpPr>
        <p:spPr>
          <a:xfrm>
            <a:off x="1000124" y="18695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Use Cases &amp; Testing</a:t>
            </a:r>
            <a:endParaRPr lang="en-US"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97FB73-826F-0DBD-80E2-6ADC395BA510}"/>
              </a:ext>
            </a:extLst>
          </p:cNvPr>
          <p:cNvSpPr txBox="1"/>
          <p:nvPr/>
        </p:nvSpPr>
        <p:spPr>
          <a:xfrm>
            <a:off x="1127445" y="680812"/>
            <a:ext cx="912412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Use Cases</a:t>
            </a:r>
          </a:p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 Sensor Testing Platform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safe and controllable setup for testing heart-rate and SpO₂ sensors without using real human blood flow.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2. Flow Simulation for Research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Helps mimic blood-flow patterns using water to support research work related to sensor calibration and accuracy.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3. Prototype Validation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Allows early-stage verification of how sensors respond to different flow conditions before moving to actual biological testing.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 Safety &amp; Reliability Checks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Ensures that sensor-based health monitoring systems respond correctly under different flow levels (normal / low flow).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5. Data Observation &amp; Interpretation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Enables collection of flow-based data to analyze how future wearable sensors may detect low-oxygen condition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6. Controlled Environment Experimentation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Provides a repeatable, non-biological test environment where flow variations can be artificially created and observed without safety risks.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Fault Detection &amp; System Robustness Testing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Useful for checking how sensors and the Arduino-controlled system behave during disturbances such as pump failure, sensor disconnection, or sudden flow loss.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8. Educational &amp; Lab Demonstration Tool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Acts as a practical demonstration model for understanding fluid dynamics, sensor behavior, and embedded system control for academic labs and student projects.</a:t>
            </a:r>
          </a:p>
        </p:txBody>
      </p:sp>
    </p:spTree>
    <p:extLst>
      <p:ext uri="{BB962C8B-B14F-4D97-AF65-F5344CB8AC3E}">
        <p14:creationId xmlns:p14="http://schemas.microsoft.com/office/powerpoint/2010/main" val="199542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D012-9BEB-2756-1219-8A0A35DB9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DA4C23-3DE7-EA33-D55B-3F984BC82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43C8507-1A8E-E362-580E-2AC70D452159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Use Cases &amp; Testing</a:t>
            </a:r>
            <a:endParaRPr lang="en-US"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8299A7-3FAF-18D0-191D-F7DFE57ECAC9}"/>
              </a:ext>
            </a:extLst>
          </p:cNvPr>
          <p:cNvSpPr txBox="1"/>
          <p:nvPr/>
        </p:nvSpPr>
        <p:spPr>
          <a:xfrm>
            <a:off x="1000124" y="726132"/>
            <a:ext cx="1038249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Testing Approach</a:t>
            </a:r>
          </a:p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Verify water-flow sensor readings at low, medium, and high flow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Check float sensor activation when the water level drops.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Confirm relay switching response time and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Ensure pump receives correct voltage and runs without interruption.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Flow Behavior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Observe changes in flow when pump speed varies.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Measure stability of continuous flow over longer durations.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Test flow interruption and recovery to mimic pulse-like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Check for air bubbles or turbulence affecting readings.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System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Simulate low-flow and no-flow conditions and monitor system reaction.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Validate pump ON/OFF logic when tank is full or empty.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Inspect for leaks, loose connections, or overheating.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Test overall reliability during extended operation.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Future Sensor Integration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Record flow data to compare with real heart-rate/SpO₂ sensor readings.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Determine correlation between flow variation and sensor output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Decide whether an ear-wearable sensor is necessary for low-oxygen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Validate compatibility of additional sensors with existing Arduino setup.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125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12333-A005-FEA0-4811-C852E2C2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AD13B1-3AD5-5F48-5EA6-8283F4D732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3B14D212-DF1F-F61D-ECD3-9D20601BCEB3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Implementation and Results – Iteration 1 </a:t>
            </a:r>
            <a:endParaRPr lang="en-US"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ECA415C5-05E9-EE8C-B516-CAA160872052}"/>
              </a:ext>
            </a:extLst>
          </p:cNvPr>
          <p:cNvSpPr txBox="1"/>
          <p:nvPr/>
        </p:nvSpPr>
        <p:spPr>
          <a:xfrm>
            <a:off x="1064132" y="889964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Iteration 1 : Results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IMPLEMENTATION: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Completed detailed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on wearable SpO₂ sensors and ML approaches.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Finalized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component selection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→ MAX30100/30102 sensor + Arduino/ESP32.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(block diagram + flow chart).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Identified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ML approach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(classification model for anomaly detection).</a:t>
            </a:r>
          </a:p>
          <a:p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RESULTS: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Validated that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ear-based SpO₂ monitoring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is feasible and more stable than finger sensors (from references).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Confirmed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design feasibility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industrial use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Reviewed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public PPG datasets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training reference.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Defined clear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roadmap for hardware setup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190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4FB4E-AB25-B986-6544-C0296069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EDE2B-D87B-D03F-3482-F7F114A4F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C625E54E-A86D-9B94-B470-0435C69F95E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Implementation and Results – Iteration 2 </a:t>
            </a:r>
            <a:endParaRPr lang="en-US"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67B823CE-7BA9-D714-A424-29AA44BD6144}"/>
              </a:ext>
            </a:extLst>
          </p:cNvPr>
          <p:cNvSpPr txBox="1"/>
          <p:nvPr/>
        </p:nvSpPr>
        <p:spPr>
          <a:xfrm>
            <a:off x="1000124" y="757114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Iteration : Results + Validation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REVIEW-1 TO REVIEW-2 CHANGES: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Removed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AI/ML part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from the earlier project plan.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Shifted focus to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practical implementation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using water-flow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sensor + pump control system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using Arduino and relay.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Concentrated on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sensor behavior, flow stability, and data collection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WORKING OF THE SYSTEM: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Water-flow sensor measures flow movement and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Float sensor detects water availability in the tank.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Arduino reads sensor status and switches relay ON/OFF.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Relay controls the water pump to maintain continuous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flow is used to mimic blood-flow behavior for testing HR &amp; SpO₂ sensors.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COMPONENTS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Arduino Uno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NodeMCU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5V Relay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Lithium-ion Battery 3.7V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Water Float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6V Water Pump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Jumper Wires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468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9F6F-143A-E35F-DBDF-3CB12C49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E874F-F44A-7323-6421-4E281ED484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13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A33E5572-BE3F-7E4A-4183-E88DC0E6C293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Implementation and Results – Iteration 2 </a:t>
            </a:r>
            <a:endParaRPr lang="en-US"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599B7091-74A4-C1A8-76FE-F32F9E3EFE4F}"/>
              </a:ext>
            </a:extLst>
          </p:cNvPr>
          <p:cNvSpPr txBox="1"/>
          <p:nvPr/>
        </p:nvSpPr>
        <p:spPr>
          <a:xfrm>
            <a:off x="1123615" y="819993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Iteration : Results + Validation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CODE USED (ARDUINO):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#define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sensorPin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    // Switch / sensor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#define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relayPin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     // Relay control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void setup() {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pinMode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sensorPin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INPUT_PULLUP);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pinMode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relayPin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OUTPUT);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Serial.begin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(9600);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void loop() {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int sensor =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digitalRead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sensorPin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if (sensor == HIGH) {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// Water tank empty → Pump 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digitalWrite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relayPin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HIGH);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Serial.println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("Pump ON");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}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else {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// Water available → Pump OFF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digitalWrite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relayPin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LOW);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Serial.println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("Pump OFF");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}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delay(200);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  <a:p>
            <a:endParaRPr lang="en-US" dirty="0"/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87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E3AC-ED8A-A8B7-14B1-E70B5D18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7033F9-93E8-0A3C-E76A-4DB99D59EE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14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4D3E5DA-303F-7023-8BE9-F8146581FAFA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Implementation and Results – Iteration 2 </a:t>
            </a:r>
            <a:endParaRPr lang="en-US"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B322AD4A-2B61-26B0-731D-E52CDB98C1C7}"/>
              </a:ext>
            </a:extLst>
          </p:cNvPr>
          <p:cNvSpPr txBox="1"/>
          <p:nvPr/>
        </p:nvSpPr>
        <p:spPr>
          <a:xfrm>
            <a:off x="1149752" y="1057748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Iteration : Results + Validation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 &amp; RESULTS (SO FAR):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Water pump successfully controlled using float sensor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Continuous water flow achieved for stable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All components tested and properly integrated.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Able to read flow data that replicates real blood-flow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responds correctly to tank water levels.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EXTENDED IMPLEMENTATION RESULTS: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673A8-83EC-3651-82EC-7AB2BECC9D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303" r="18781"/>
          <a:stretch>
            <a:fillRect/>
          </a:stretch>
        </p:blipFill>
        <p:spPr>
          <a:xfrm>
            <a:off x="7808629" y="1385167"/>
            <a:ext cx="3928100" cy="33335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5C1BE9-67BA-C080-7890-BFCB8E9CEA5E}"/>
              </a:ext>
            </a:extLst>
          </p:cNvPr>
          <p:cNvSpPr txBox="1"/>
          <p:nvPr/>
        </p:nvSpPr>
        <p:spPr>
          <a:xfrm>
            <a:off x="7853833" y="4826802"/>
            <a:ext cx="40319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Figure: Arduino-based water-flow simulation setup with relay, float sensor, and pump.</a:t>
            </a:r>
            <a:endParaRPr lang="en-US" dirty="0"/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F9E34B7-EDDC-42A1-1A62-8495A0380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752" y="3581943"/>
            <a:ext cx="711765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Verified relay switching accuracy using oscilloscope and Arduino serial logs.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Confirmed float sensor hysteresis (smooth switching without noise or false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triggering).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Checked wiring integrity and power stability using a 3.7V Li-ion battery supply.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Validated system safety by ensuring the pump turns OFF during tank dry condition.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Measured flow behavior variations by adjusting water height and tube diameter.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Recorded sensor output patterns to analyze consistency in water-flow changes.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Observed stable pump operation without voltage drops or irregular flow.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F916C4-30C5-29A2-0DD5-D0EC08EFD527}"/>
              </a:ext>
            </a:extLst>
          </p:cNvPr>
          <p:cNvSpPr txBox="1"/>
          <p:nvPr/>
        </p:nvSpPr>
        <p:spPr>
          <a:xfrm>
            <a:off x="5065429" y="5860987"/>
            <a:ext cx="2743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hlinkClick r:id="rId3"/>
              </a:rPr>
              <a:t>Project Demonstration - Video Link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17605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98FA-4F35-C93F-73A2-485950D0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32046-4ACE-A1E3-4010-52881C983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fld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9BB43107-1A1B-029D-C73C-2126600571B2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Montserrat"/>
                <a:sym typeface="Montserrat"/>
              </a:rPr>
              <a:t>Conclusion &amp; Future Work</a:t>
            </a:r>
            <a:endParaRPr lang="en-US" sz="14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394A4-F419-25F3-AB4A-7CB14335029B}"/>
              </a:ext>
            </a:extLst>
          </p:cNvPr>
          <p:cNvSpPr txBox="1"/>
          <p:nvPr/>
        </p:nvSpPr>
        <p:spPr>
          <a:xfrm>
            <a:off x="1107247" y="885681"/>
            <a:ext cx="941324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Conclusion (So Far)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literature survey shows that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safe and controlled simulation environment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is required before testing heart-rate and SpO₂ sensors on real subjects.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water-flow based blood-flow simulation system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has been designed and implemented using Arduino, relay module, float sensor, and water-flow sensor.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system successfully generates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stable and repeatable flow patterns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which can be used for validating future wearable sensors.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project is feasible and provides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strong foundation for future integration of real heart-rate/SpO₂ sensors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b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Summary of Work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Conducted literature review on flow-based biological simulation setups.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Designed the complete system using Arduino UNO, relay module, float sensor, and pump.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Implemented pump control using float sensor to maintain continuous water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Tested water-flow sensor readings under different flow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Validated stable flow generation for upcoming wearable sensor testing.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Integrate real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heart-rate / SpO₂ sensors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with the water-flow setup for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Collect readings to determine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low-oxygen patterns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validate sensor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Decide whether an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ear-wearable SpO₂ device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is required for workers based on sensor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Improve flow stability to more closely mimic biological pulse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Add optional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NodeMCU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-based wireless monitoring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data logging and supervision.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Test long-duration performance and system robustness.</a:t>
            </a:r>
          </a:p>
          <a:p>
            <a:pPr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26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fee63df26b_0_0"/>
          <p:cNvSpPr txBox="1"/>
          <p:nvPr/>
        </p:nvSpPr>
        <p:spPr>
          <a:xfrm>
            <a:off x="1233714" y="2607717"/>
            <a:ext cx="97245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11500" b="1" i="0" u="none" strike="noStrike" cap="none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THANK </a:t>
            </a:r>
            <a:r>
              <a:rPr lang="en-US" sz="11500" b="1" i="0" u="none" strike="noStrike" cap="non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4" name="Google Shape;744;g2fee63df26b_0_0"/>
          <p:cNvSpPr txBox="1"/>
          <p:nvPr/>
        </p:nvSpPr>
        <p:spPr>
          <a:xfrm>
            <a:off x="1596571" y="4466045"/>
            <a:ext cx="8998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Have a Great Day ! </a:t>
            </a:r>
            <a:endParaRPr sz="1400" b="0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12e713-2dca-40f0-9e5e-b71e83d0a0b8"/>
</p:tagLst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</TotalTime>
  <Words>2394</Words>
  <Application>Microsoft Office PowerPoint</Application>
  <PresentationFormat>Widescreen</PresentationFormat>
  <Paragraphs>375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Cambria</vt:lpstr>
      <vt:lpstr>Open Sans</vt:lpstr>
      <vt:lpstr>Verdana</vt:lpstr>
      <vt:lpstr>Montserrat Medium</vt:lpstr>
      <vt:lpstr>Aharoni</vt:lpstr>
      <vt:lpstr>Calibri</vt:lpstr>
      <vt:lpstr>Arial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GITAM</dc:creator>
  <cp:lastModifiedBy>Monisha H S</cp:lastModifiedBy>
  <cp:revision>39</cp:revision>
  <dcterms:created xsi:type="dcterms:W3CDTF">2022-05-23T07:15:42Z</dcterms:created>
  <dcterms:modified xsi:type="dcterms:W3CDTF">2025-11-21T04:11:06Z</dcterms:modified>
</cp:coreProperties>
</file>